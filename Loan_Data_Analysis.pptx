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7"/>
  </p:notesMasterIdLst>
  <p:sldIdLst>
    <p:sldId id="305" r:id="rId2"/>
    <p:sldId id="304" r:id="rId3"/>
    <p:sldId id="306" r:id="rId4"/>
    <p:sldId id="307" r:id="rId5"/>
    <p:sldId id="308" r:id="rId6"/>
  </p:sldIdLst>
  <p:sldSz cx="9144000" cy="5143500" type="screen16x9"/>
  <p:notesSz cx="6858000" cy="9144000"/>
  <p:embeddedFontLst>
    <p:embeddedFont>
      <p:font typeface="Albert Sans" panose="020B0604020202020204" charset="0"/>
      <p:regular r:id="rId8"/>
      <p:bold r:id="rId9"/>
      <p:italic r:id="rId10"/>
      <p:boldItalic r:id="rId11"/>
    </p:embeddedFont>
    <p:embeddedFont>
      <p:font typeface="Syne" panose="020B0604020202020204" charset="0"/>
      <p:regular r:id="rId12"/>
      <p:bold r:id="rId13"/>
    </p:embeddedFont>
    <p:embeddedFont>
      <p:font typeface="Syne SemiBold" panose="020B0604020202020204" charset="0"/>
      <p:regular r:id="rId14"/>
      <p:bold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E916D7E-B1F2-4363-AD6B-94603CCC6F66}">
  <a:tblStyle styleId="{EE916D7E-B1F2-4363-AD6B-94603CCC6F6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713A88F-8DAB-4929-A60B-3B079C2808B4}"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9" d="100"/>
          <a:sy n="149" d="100"/>
        </p:scale>
        <p:origin x="50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pic>
        <p:nvPicPr>
          <p:cNvPr id="31" name="Google Shape;31;p7" title="techstartup-osc3.jpg"/>
          <p:cNvPicPr preferRelativeResize="0"/>
          <p:nvPr/>
        </p:nvPicPr>
        <p:blipFill rotWithShape="1">
          <a:blip r:embed="rId2">
            <a:alphaModFix/>
          </a:blip>
          <a:srcRect/>
          <a:stretch/>
        </p:blipFill>
        <p:spPr>
          <a:xfrm>
            <a:off x="0" y="0"/>
            <a:ext cx="9144000" cy="5143500"/>
          </a:xfrm>
          <a:prstGeom prst="rect">
            <a:avLst/>
          </a:prstGeom>
          <a:noFill/>
          <a:ln w="9525" cap="flat" cmpd="sng">
            <a:solidFill>
              <a:srgbClr val="FFFFFF"/>
            </a:solidFill>
            <a:prstDash val="solid"/>
            <a:round/>
            <a:headEnd type="none" w="sm" len="sm"/>
            <a:tailEnd type="none" w="sm" len="sm"/>
          </a:ln>
        </p:spPr>
      </p:pic>
      <p:sp>
        <p:nvSpPr>
          <p:cNvPr id="32" name="Google Shape;32;p7"/>
          <p:cNvSpPr txBox="1">
            <a:spLocks noGrp="1"/>
          </p:cNvSpPr>
          <p:nvPr>
            <p:ph type="subTitle" idx="1"/>
          </p:nvPr>
        </p:nvSpPr>
        <p:spPr>
          <a:xfrm>
            <a:off x="4928800" y="1475100"/>
            <a:ext cx="3501900" cy="21933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33" name="Google Shape;33;p7"/>
          <p:cNvSpPr txBox="1">
            <a:spLocks noGrp="1"/>
          </p:cNvSpPr>
          <p:nvPr>
            <p:ph type="title"/>
          </p:nvPr>
        </p:nvSpPr>
        <p:spPr>
          <a:xfrm>
            <a:off x="811975" y="539488"/>
            <a:ext cx="429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b="0">
                <a:latin typeface="Syne SemiBold"/>
                <a:ea typeface="Syne SemiBold"/>
                <a:cs typeface="Syne SemiBold"/>
                <a:sym typeface="Syne SemiBold"/>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
        <p:nvSpPr>
          <p:cNvPr id="34" name="Google Shape;34;p7"/>
          <p:cNvSpPr>
            <a:spLocks noGrp="1"/>
          </p:cNvSpPr>
          <p:nvPr>
            <p:ph type="pic" idx="2"/>
          </p:nvPr>
        </p:nvSpPr>
        <p:spPr>
          <a:xfrm>
            <a:off x="1" y="1476775"/>
            <a:ext cx="4294800" cy="3666600"/>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5"/>
        <p:cNvGrpSpPr/>
        <p:nvPr/>
      </p:nvGrpSpPr>
      <p:grpSpPr>
        <a:xfrm>
          <a:off x="0" y="0"/>
          <a:ext cx="0" cy="0"/>
          <a:chOff x="0" y="0"/>
          <a:chExt cx="0" cy="0"/>
        </a:xfrm>
      </p:grpSpPr>
      <p:pic>
        <p:nvPicPr>
          <p:cNvPr id="36" name="Google Shape;36;p8" title="techstartup-osc.jpg"/>
          <p:cNvPicPr preferRelativeResize="0"/>
          <p:nvPr/>
        </p:nvPicPr>
        <p:blipFill rotWithShape="1">
          <a:blip r:embed="rId2">
            <a:alphaModFix/>
          </a:blip>
          <a:srcRect t="31124" r="31124"/>
          <a:stretch/>
        </p:blipFill>
        <p:spPr>
          <a:xfrm>
            <a:off x="0" y="0"/>
            <a:ext cx="9144000" cy="5143500"/>
          </a:xfrm>
          <a:prstGeom prst="rect">
            <a:avLst/>
          </a:prstGeom>
          <a:noFill/>
          <a:ln w="9525" cap="flat" cmpd="sng">
            <a:solidFill>
              <a:srgbClr val="FFFFFF"/>
            </a:solidFill>
            <a:prstDash val="solid"/>
            <a:round/>
            <a:headEnd type="none" w="sm" len="sm"/>
            <a:tailEnd type="none" w="sm" len="sm"/>
          </a:ln>
        </p:spPr>
      </p:pic>
      <p:sp>
        <p:nvSpPr>
          <p:cNvPr id="37" name="Google Shape;37;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pic>
        <p:nvPicPr>
          <p:cNvPr id="39" name="Google Shape;39;p9" title="techstartup-osc.jpg"/>
          <p:cNvPicPr preferRelativeResize="0"/>
          <p:nvPr/>
        </p:nvPicPr>
        <p:blipFill rotWithShape="1">
          <a:blip r:embed="rId2">
            <a:alphaModFix/>
          </a:blip>
          <a:srcRect/>
          <a:stretch/>
        </p:blipFill>
        <p:spPr>
          <a:xfrm>
            <a:off x="0" y="0"/>
            <a:ext cx="9144000" cy="5143500"/>
          </a:xfrm>
          <a:prstGeom prst="rect">
            <a:avLst/>
          </a:prstGeom>
          <a:noFill/>
          <a:ln w="9525" cap="flat" cmpd="sng">
            <a:solidFill>
              <a:srgbClr val="FFFFFF"/>
            </a:solidFill>
            <a:prstDash val="solid"/>
            <a:round/>
            <a:headEnd type="none" w="sm" len="sm"/>
            <a:tailEnd type="none" w="sm" len="sm"/>
          </a:ln>
        </p:spPr>
      </p:pic>
      <p:sp>
        <p:nvSpPr>
          <p:cNvPr id="40" name="Google Shape;40;p9"/>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2600"/>
              <a:buNone/>
              <a:defRPr/>
            </a:lvl2pPr>
            <a:lvl3pPr lvl="2" algn="ctr" rtl="0">
              <a:spcBef>
                <a:spcPts val="0"/>
              </a:spcBef>
              <a:spcAft>
                <a:spcPts val="0"/>
              </a:spcAft>
              <a:buSzPts val="2600"/>
              <a:buNone/>
              <a:defRPr/>
            </a:lvl3pPr>
            <a:lvl4pPr lvl="3" algn="ctr" rtl="0">
              <a:spcBef>
                <a:spcPts val="0"/>
              </a:spcBef>
              <a:spcAft>
                <a:spcPts val="0"/>
              </a:spcAft>
              <a:buSzPts val="2600"/>
              <a:buNone/>
              <a:defRPr/>
            </a:lvl4pPr>
            <a:lvl5pPr lvl="4" algn="ctr" rtl="0">
              <a:spcBef>
                <a:spcPts val="0"/>
              </a:spcBef>
              <a:spcAft>
                <a:spcPts val="0"/>
              </a:spcAft>
              <a:buSzPts val="2600"/>
              <a:buNone/>
              <a:defRPr/>
            </a:lvl5pPr>
            <a:lvl6pPr lvl="5" algn="ctr" rtl="0">
              <a:spcBef>
                <a:spcPts val="0"/>
              </a:spcBef>
              <a:spcAft>
                <a:spcPts val="0"/>
              </a:spcAft>
              <a:buSzPts val="2600"/>
              <a:buNone/>
              <a:defRPr/>
            </a:lvl6pPr>
            <a:lvl7pPr lvl="6" algn="ctr" rtl="0">
              <a:spcBef>
                <a:spcPts val="0"/>
              </a:spcBef>
              <a:spcAft>
                <a:spcPts val="0"/>
              </a:spcAft>
              <a:buSzPts val="2600"/>
              <a:buNone/>
              <a:defRPr/>
            </a:lvl7pPr>
            <a:lvl8pPr lvl="7" algn="ctr" rtl="0">
              <a:spcBef>
                <a:spcPts val="0"/>
              </a:spcBef>
              <a:spcAft>
                <a:spcPts val="0"/>
              </a:spcAft>
              <a:buSzPts val="2600"/>
              <a:buNone/>
              <a:defRPr/>
            </a:lvl8pPr>
            <a:lvl9pPr lvl="8" algn="ctr" rtl="0">
              <a:spcBef>
                <a:spcPts val="0"/>
              </a:spcBef>
              <a:spcAft>
                <a:spcPts val="0"/>
              </a:spcAft>
              <a:buSzPts val="2600"/>
              <a:buNone/>
              <a:defRPr/>
            </a:lvl9pPr>
          </a:lstStyle>
          <a:p>
            <a:endParaRPr/>
          </a:p>
        </p:txBody>
      </p:sp>
      <p:sp>
        <p:nvSpPr>
          <p:cNvPr id="41" name="Google Shape;41;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0"/>
          <p:cNvSpPr>
            <a:spLocks noGrp="1"/>
          </p:cNvSpPr>
          <p:nvPr>
            <p:ph type="pic" idx="2"/>
          </p:nvPr>
        </p:nvSpPr>
        <p:spPr>
          <a:xfrm>
            <a:off x="0" y="0"/>
            <a:ext cx="9144000" cy="5143500"/>
          </a:xfrm>
          <a:prstGeom prst="rect">
            <a:avLst/>
          </a:prstGeom>
          <a:noFill/>
          <a:ln>
            <a:noFill/>
          </a:ln>
        </p:spPr>
      </p:sp>
      <p:sp>
        <p:nvSpPr>
          <p:cNvPr id="44" name="Google Shape;44;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2600"/>
              <a:buNone/>
              <a:defRPr>
                <a:solidFill>
                  <a:schemeClr val="lt1"/>
                </a:solidFill>
              </a:defRPr>
            </a:lvl1pPr>
            <a:lvl2pPr lvl="1" algn="ctr" rtl="0">
              <a:spcBef>
                <a:spcPts val="0"/>
              </a:spcBef>
              <a:spcAft>
                <a:spcPts val="0"/>
              </a:spcAft>
              <a:buSzPts val="2600"/>
              <a:buNone/>
              <a:defRPr/>
            </a:lvl2pPr>
            <a:lvl3pPr lvl="2" algn="ctr" rtl="0">
              <a:spcBef>
                <a:spcPts val="0"/>
              </a:spcBef>
              <a:spcAft>
                <a:spcPts val="0"/>
              </a:spcAft>
              <a:buSzPts val="2600"/>
              <a:buNone/>
              <a:defRPr/>
            </a:lvl3pPr>
            <a:lvl4pPr lvl="3" algn="ctr" rtl="0">
              <a:spcBef>
                <a:spcPts val="0"/>
              </a:spcBef>
              <a:spcAft>
                <a:spcPts val="0"/>
              </a:spcAft>
              <a:buSzPts val="2600"/>
              <a:buNone/>
              <a:defRPr/>
            </a:lvl4pPr>
            <a:lvl5pPr lvl="4" algn="ctr" rtl="0">
              <a:spcBef>
                <a:spcPts val="0"/>
              </a:spcBef>
              <a:spcAft>
                <a:spcPts val="0"/>
              </a:spcAft>
              <a:buSzPts val="2600"/>
              <a:buNone/>
              <a:defRPr/>
            </a:lvl5pPr>
            <a:lvl6pPr lvl="5" algn="ctr" rtl="0">
              <a:spcBef>
                <a:spcPts val="0"/>
              </a:spcBef>
              <a:spcAft>
                <a:spcPts val="0"/>
              </a:spcAft>
              <a:buSzPts val="2600"/>
              <a:buNone/>
              <a:defRPr/>
            </a:lvl6pPr>
            <a:lvl7pPr lvl="6" algn="ctr" rtl="0">
              <a:spcBef>
                <a:spcPts val="0"/>
              </a:spcBef>
              <a:spcAft>
                <a:spcPts val="0"/>
              </a:spcAft>
              <a:buSzPts val="2600"/>
              <a:buNone/>
              <a:defRPr/>
            </a:lvl7pPr>
            <a:lvl8pPr lvl="7" algn="ctr" rtl="0">
              <a:spcBef>
                <a:spcPts val="0"/>
              </a:spcBef>
              <a:spcAft>
                <a:spcPts val="0"/>
              </a:spcAft>
              <a:buSzPts val="2600"/>
              <a:buNone/>
              <a:defRPr/>
            </a:lvl8pPr>
            <a:lvl9pPr lvl="8" algn="ctr" rtl="0">
              <a:spcBef>
                <a:spcPts val="0"/>
              </a:spcBef>
              <a:spcAft>
                <a:spcPts val="0"/>
              </a:spcAft>
              <a:buSzPts val="26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9"/>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1">
  <p:cSld name="TITLE_ONLY_1_1">
    <p:spTree>
      <p:nvGrpSpPr>
        <p:cNvPr id="1" name="Shape 79"/>
        <p:cNvGrpSpPr/>
        <p:nvPr/>
      </p:nvGrpSpPr>
      <p:grpSpPr>
        <a:xfrm>
          <a:off x="0" y="0"/>
          <a:ext cx="0" cy="0"/>
          <a:chOff x="0" y="0"/>
          <a:chExt cx="0" cy="0"/>
        </a:xfrm>
      </p:grpSpPr>
      <p:pic>
        <p:nvPicPr>
          <p:cNvPr id="80" name="Google Shape;80;p17" title="techstartup-osc6.jpg"/>
          <p:cNvPicPr preferRelativeResize="0"/>
          <p:nvPr/>
        </p:nvPicPr>
        <p:blipFill rotWithShape="1">
          <a:blip r:embed="rId2">
            <a:alphaModFix/>
          </a:blip>
          <a:srcRect/>
          <a:stretch/>
        </p:blipFill>
        <p:spPr>
          <a:xfrm>
            <a:off x="0" y="0"/>
            <a:ext cx="9144000" cy="5143500"/>
          </a:xfrm>
          <a:prstGeom prst="rect">
            <a:avLst/>
          </a:prstGeom>
          <a:noFill/>
          <a:ln w="9525" cap="flat" cmpd="sng">
            <a:solidFill>
              <a:srgbClr val="FFFFFF"/>
            </a:solidFill>
            <a:prstDash val="solid"/>
            <a:round/>
            <a:headEnd type="none" w="sm" len="sm"/>
            <a:tailEnd type="none" w="sm" len="sm"/>
          </a:ln>
        </p:spPr>
      </p:pic>
      <p:sp>
        <p:nvSpPr>
          <p:cNvPr id="81" name="Google Shape;81;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08"/>
        <p:cNvGrpSpPr/>
        <p:nvPr/>
      </p:nvGrpSpPr>
      <p:grpSpPr>
        <a:xfrm>
          <a:off x="0" y="0"/>
          <a:ext cx="0" cy="0"/>
          <a:chOff x="0" y="0"/>
          <a:chExt cx="0" cy="0"/>
        </a:xfrm>
      </p:grpSpPr>
      <p:pic>
        <p:nvPicPr>
          <p:cNvPr id="109" name="Google Shape;109;p22" title="techstartup-osc4.jpg"/>
          <p:cNvPicPr preferRelativeResize="0"/>
          <p:nvPr/>
        </p:nvPicPr>
        <p:blipFill rotWithShape="1">
          <a:blip r:embed="rId2">
            <a:alphaModFix/>
          </a:blip>
          <a:srcRect/>
          <a:stretch/>
        </p:blipFill>
        <p:spPr>
          <a:xfrm>
            <a:off x="0" y="0"/>
            <a:ext cx="9144000" cy="5143500"/>
          </a:xfrm>
          <a:prstGeom prst="rect">
            <a:avLst/>
          </a:prstGeom>
          <a:noFill/>
          <a:ln w="9525" cap="flat" cmpd="sng">
            <a:solidFill>
              <a:srgbClr val="FFFFFF"/>
            </a:solidFill>
            <a:prstDash val="solid"/>
            <a:round/>
            <a:headEnd type="none" w="sm" len="sm"/>
            <a:tailEnd type="none" w="sm" len="sm"/>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10"/>
        <p:cNvGrpSpPr/>
        <p:nvPr/>
      </p:nvGrpSpPr>
      <p:grpSpPr>
        <a:xfrm>
          <a:off x="0" y="0"/>
          <a:ext cx="0" cy="0"/>
          <a:chOff x="0" y="0"/>
          <a:chExt cx="0" cy="0"/>
        </a:xfrm>
      </p:grpSpPr>
      <p:pic>
        <p:nvPicPr>
          <p:cNvPr id="111" name="Google Shape;111;p23" title="techstartup-osc1.jpg"/>
          <p:cNvPicPr preferRelativeResize="0"/>
          <p:nvPr/>
        </p:nvPicPr>
        <p:blipFill>
          <a:blip r:embed="rId2">
            <a:alphaModFix/>
          </a:blip>
          <a:stretch>
            <a:fillRect/>
          </a:stretch>
        </p:blipFill>
        <p:spPr>
          <a:xfrm>
            <a:off x="0" y="0"/>
            <a:ext cx="9144000" cy="5143500"/>
          </a:xfrm>
          <a:prstGeom prst="rect">
            <a:avLst/>
          </a:prstGeom>
          <a:noFill/>
          <a:ln w="9525" cap="flat" cmpd="sng">
            <a:solidFill>
              <a:srgbClr val="FFFFFF"/>
            </a:solidFill>
            <a:prstDash val="solid"/>
            <a:round/>
            <a:headEnd type="none" w="sm" len="sm"/>
            <a:tailEnd type="none" w="sm" len="sm"/>
          </a:ln>
        </p:spPr>
      </p:pic>
    </p:spTree>
    <p:extLst>
      <p:ext uri="{BB962C8B-B14F-4D97-AF65-F5344CB8AC3E}">
        <p14:creationId xmlns:p14="http://schemas.microsoft.com/office/powerpoint/2010/main" val="2786550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1pPr>
            <a:lvl2pPr lvl="1"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2pPr>
            <a:lvl3pPr lvl="2"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3pPr>
            <a:lvl4pPr lvl="3"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4pPr>
            <a:lvl5pPr lvl="4"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5pPr>
            <a:lvl6pPr lvl="5"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6pPr>
            <a:lvl7pPr lvl="6"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7pPr>
            <a:lvl8pPr lvl="7"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8pPr>
            <a:lvl9pPr lvl="8"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marL="914400" lvl="1"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marL="1371600" lvl="2"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marL="1828800" lvl="3"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marL="2286000" lvl="4"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marL="2743200" lvl="5"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marL="3200400" lvl="6"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marL="3657600" lvl="7"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marL="4114800" lvl="8"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8" r:id="rId5"/>
    <p:sldLayoutId id="2147483663" r:id="rId6"/>
    <p:sldLayoutId id="2147483668" r:id="rId7"/>
    <p:sldLayoutId id="2147483674"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3A251-E5A3-4A83-8BA7-3DC37D8B6A1D}"/>
              </a:ext>
            </a:extLst>
          </p:cNvPr>
          <p:cNvSpPr>
            <a:spLocks noGrp="1"/>
          </p:cNvSpPr>
          <p:nvPr>
            <p:ph type="title"/>
          </p:nvPr>
        </p:nvSpPr>
        <p:spPr>
          <a:xfrm>
            <a:off x="720000" y="445025"/>
            <a:ext cx="7704000" cy="3762494"/>
          </a:xfrm>
        </p:spPr>
        <p:txBody>
          <a:bodyPr/>
          <a:lstStyle/>
          <a:p>
            <a:r>
              <a:rPr lang="en-GB" dirty="0">
                <a:latin typeface="Times New Roman" panose="02020603050405020304" pitchFamily="18" charset="0"/>
                <a:cs typeface="Times New Roman" panose="02020603050405020304" pitchFamily="18" charset="0"/>
              </a:rPr>
              <a:t>Loan Analytics Data</a:t>
            </a:r>
            <a:br>
              <a:rPr lang="en-GB" dirty="0"/>
            </a:br>
            <a:br>
              <a:rPr lang="en-GB" dirty="0"/>
            </a:br>
            <a:r>
              <a:rPr lang="en-GB" sz="1200" dirty="0">
                <a:latin typeface="Times New Roman" panose="02020603050405020304" pitchFamily="18" charset="0"/>
                <a:cs typeface="Times New Roman" panose="02020603050405020304" pitchFamily="18" charset="0"/>
              </a:rPr>
              <a:t>Our dashboard highlights five major risks: </a:t>
            </a:r>
            <a:br>
              <a:rPr lang="en-GB" sz="1200" dirty="0">
                <a:latin typeface="Times New Roman" panose="02020603050405020304" pitchFamily="18" charset="0"/>
                <a:cs typeface="Times New Roman" panose="02020603050405020304" pitchFamily="18" charset="0"/>
              </a:rPr>
            </a:br>
            <a:r>
              <a:rPr lang="en-GB" sz="1200" dirty="0">
                <a:latin typeface="Times New Roman" panose="02020603050405020304" pitchFamily="18" charset="0"/>
                <a:cs typeface="Times New Roman" panose="02020603050405020304" pitchFamily="18" charset="0"/>
              </a:rPr>
              <a:t>    </a:t>
            </a:r>
            <a:r>
              <a:rPr lang="en-GB" sz="1400" b="0" dirty="0">
                <a:latin typeface="Times New Roman" panose="02020603050405020304" pitchFamily="18" charset="0"/>
                <a:cs typeface="Times New Roman" panose="02020603050405020304" pitchFamily="18" charset="0"/>
              </a:rPr>
              <a:t>Product concentration</a:t>
            </a:r>
            <a:br>
              <a:rPr lang="en-GB" sz="1400" b="0" dirty="0">
                <a:latin typeface="Times New Roman" panose="02020603050405020304" pitchFamily="18" charset="0"/>
                <a:cs typeface="Times New Roman" panose="02020603050405020304" pitchFamily="18" charset="0"/>
              </a:rPr>
            </a:br>
            <a:r>
              <a:rPr lang="en-GB" sz="1400" b="0" dirty="0">
                <a:latin typeface="Times New Roman" panose="02020603050405020304" pitchFamily="18" charset="0"/>
                <a:cs typeface="Times New Roman" panose="02020603050405020304" pitchFamily="18" charset="0"/>
              </a:rPr>
              <a:t>   Geographic imbalance </a:t>
            </a:r>
            <a:br>
              <a:rPr lang="en-GB" sz="1400" b="0" dirty="0">
                <a:latin typeface="Times New Roman" panose="02020603050405020304" pitchFamily="18" charset="0"/>
                <a:cs typeface="Times New Roman" panose="02020603050405020304" pitchFamily="18" charset="0"/>
              </a:rPr>
            </a:br>
            <a:r>
              <a:rPr lang="en-GB" sz="1400" b="0" dirty="0">
                <a:latin typeface="Times New Roman" panose="02020603050405020304" pitchFamily="18" charset="0"/>
                <a:cs typeface="Times New Roman" panose="02020603050405020304" pitchFamily="18" charset="0"/>
              </a:rPr>
              <a:t>   Borrower quality skew</a:t>
            </a:r>
            <a:br>
              <a:rPr lang="en-GB" sz="1400" b="0" dirty="0">
                <a:latin typeface="Times New Roman" panose="02020603050405020304" pitchFamily="18" charset="0"/>
                <a:cs typeface="Times New Roman" panose="02020603050405020304" pitchFamily="18" charset="0"/>
              </a:rPr>
            </a:br>
            <a:r>
              <a:rPr lang="en-GB" sz="1400" b="0" dirty="0">
                <a:latin typeface="Times New Roman" panose="02020603050405020304" pitchFamily="18" charset="0"/>
                <a:cs typeface="Times New Roman" panose="02020603050405020304" pitchFamily="18" charset="0"/>
              </a:rPr>
              <a:t>   Customer segment underrepresentation</a:t>
            </a:r>
            <a:br>
              <a:rPr lang="en-GB" sz="1400" b="0" dirty="0">
                <a:latin typeface="Times New Roman" panose="02020603050405020304" pitchFamily="18" charset="0"/>
                <a:cs typeface="Times New Roman" panose="02020603050405020304" pitchFamily="18" charset="0"/>
              </a:rPr>
            </a:br>
            <a:r>
              <a:rPr lang="en-GB" sz="1400" b="0" dirty="0">
                <a:latin typeface="Times New Roman" panose="02020603050405020304" pitchFamily="18" charset="0"/>
                <a:cs typeface="Times New Roman" panose="02020603050405020304" pitchFamily="18" charset="0"/>
              </a:rPr>
              <a:t>   Seasonal maturity peaks.</a:t>
            </a:r>
            <a:br>
              <a:rPr lang="en-GB" sz="1400" b="0" dirty="0">
                <a:latin typeface="Times New Roman" panose="02020603050405020304" pitchFamily="18" charset="0"/>
                <a:cs typeface="Times New Roman" panose="02020603050405020304" pitchFamily="18" charset="0"/>
              </a:rPr>
            </a:br>
            <a:br>
              <a:rPr lang="en-GB" sz="1200" dirty="0">
                <a:latin typeface="Times New Roman" panose="02020603050405020304" pitchFamily="18" charset="0"/>
                <a:cs typeface="Times New Roman" panose="02020603050405020304" pitchFamily="18" charset="0"/>
              </a:rPr>
            </a:br>
            <a:br>
              <a:rPr lang="en-GB" sz="1100" dirty="0">
                <a:latin typeface="Times New Roman" panose="02020603050405020304" pitchFamily="18" charset="0"/>
                <a:cs typeface="Times New Roman" panose="02020603050405020304" pitchFamily="18" charset="0"/>
              </a:rPr>
            </a:br>
            <a:r>
              <a:rPr lang="en-GB" sz="1600" b="0" dirty="0">
                <a:latin typeface="Times New Roman" panose="02020603050405020304" pitchFamily="18" charset="0"/>
                <a:cs typeface="Times New Roman" panose="02020603050405020304" pitchFamily="18" charset="0"/>
              </a:rPr>
              <a:t>Through targeted product diversification, geographic expansion, credit policy strengthening, loan calendar optimization, and data-driven segmentation, the bank can significantly enhance profitability, reduce risk, and build a more inclusive, balanced, and scalable loan portfolio.”</a:t>
            </a:r>
            <a:endParaRPr lang="en-IN" sz="11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997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64;p32">
            <a:extLst>
              <a:ext uri="{FF2B5EF4-FFF2-40B4-BE49-F238E27FC236}">
                <a16:creationId xmlns:a16="http://schemas.microsoft.com/office/drawing/2014/main" id="{6974AF64-144E-486D-B30D-51165E8B35E5}"/>
              </a:ext>
            </a:extLst>
          </p:cNvPr>
          <p:cNvSpPr txBox="1">
            <a:spLocks/>
          </p:cNvSpPr>
          <p:nvPr/>
        </p:nvSpPr>
        <p:spPr>
          <a:xfrm>
            <a:off x="454003" y="127888"/>
            <a:ext cx="7358362" cy="6010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1pPr>
            <a:lvl2pPr marR="0" lvl="1"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2pPr>
            <a:lvl3pPr marR="0" lvl="2"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3pPr>
            <a:lvl4pPr marR="0" lvl="3"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4pPr>
            <a:lvl5pPr marR="0" lvl="4"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5pPr>
            <a:lvl6pPr marR="0" lvl="5"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6pPr>
            <a:lvl7pPr marR="0" lvl="6"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7pPr>
            <a:lvl8pPr marR="0" lvl="7"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8pPr>
            <a:lvl9pPr marR="0" lvl="8"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9pPr>
          </a:lstStyle>
          <a:p>
            <a:r>
              <a:rPr lang="en-IN" sz="3200" dirty="0">
                <a:latin typeface="Times New Roman" panose="02020603050405020304" pitchFamily="18" charset="0"/>
                <a:cs typeface="Times New Roman" panose="02020603050405020304" pitchFamily="18" charset="0"/>
              </a:rPr>
              <a:t>Challenges Faced During Cleaning</a:t>
            </a:r>
            <a:endParaRPr lang="en-US" sz="3200" dirty="0">
              <a:latin typeface="Times New Roman" panose="02020603050405020304" pitchFamily="18" charset="0"/>
              <a:cs typeface="Times New Roman" panose="02020603050405020304" pitchFamily="18" charset="0"/>
            </a:endParaRPr>
          </a:p>
        </p:txBody>
      </p:sp>
      <p:sp>
        <p:nvSpPr>
          <p:cNvPr id="4" name="Google Shape;173;p33">
            <a:extLst>
              <a:ext uri="{FF2B5EF4-FFF2-40B4-BE49-F238E27FC236}">
                <a16:creationId xmlns:a16="http://schemas.microsoft.com/office/drawing/2014/main" id="{88FA67D1-9A90-4517-951D-523F2AF11B42}"/>
              </a:ext>
            </a:extLst>
          </p:cNvPr>
          <p:cNvSpPr txBox="1">
            <a:spLocks/>
          </p:cNvSpPr>
          <p:nvPr/>
        </p:nvSpPr>
        <p:spPr>
          <a:xfrm>
            <a:off x="510896" y="626652"/>
            <a:ext cx="8018489" cy="162418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5" name="Google Shape;164;p32">
            <a:extLst>
              <a:ext uri="{FF2B5EF4-FFF2-40B4-BE49-F238E27FC236}">
                <a16:creationId xmlns:a16="http://schemas.microsoft.com/office/drawing/2014/main" id="{01C8EF58-CEEE-4F7C-B02B-E2B5F8A3F697}"/>
              </a:ext>
            </a:extLst>
          </p:cNvPr>
          <p:cNvSpPr txBox="1">
            <a:spLocks/>
          </p:cNvSpPr>
          <p:nvPr/>
        </p:nvSpPr>
        <p:spPr>
          <a:xfrm>
            <a:off x="454003" y="2193279"/>
            <a:ext cx="7358362" cy="6010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3600"/>
              <a:buFont typeface="Syne"/>
              <a:buNone/>
              <a:defRPr sz="5000" b="0" i="0" u="none" strike="noStrike" cap="none">
                <a:solidFill>
                  <a:schemeClr val="dk1"/>
                </a:solidFill>
                <a:latin typeface="Syne SemiBold"/>
                <a:ea typeface="Syne SemiBold"/>
                <a:cs typeface="Syne SemiBold"/>
                <a:sym typeface="Syne SemiBold"/>
              </a:defRPr>
            </a:lvl1pPr>
            <a:lvl2pPr marR="0" lvl="1"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2pPr>
            <a:lvl3pPr marR="0" lvl="2"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3pPr>
            <a:lvl4pPr marR="0" lvl="3"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4pPr>
            <a:lvl5pPr marR="0" lvl="4"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5pPr>
            <a:lvl6pPr marR="0" lvl="5"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6pPr>
            <a:lvl7pPr marR="0" lvl="6"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7pPr>
            <a:lvl8pPr marR="0" lvl="7"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8pPr>
            <a:lvl9pPr marR="0" lvl="8"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9pPr>
          </a:lstStyle>
          <a:p>
            <a:pPr algn="l"/>
            <a:r>
              <a:rPr lang="en-US" sz="2800" dirty="0">
                <a:latin typeface="Times New Roman" panose="02020603050405020304" pitchFamily="18" charset="0"/>
                <a:cs typeface="Times New Roman" panose="02020603050405020304" pitchFamily="18" charset="0"/>
              </a:rPr>
              <a:t>How the Data Was Cleaned and Handled</a:t>
            </a:r>
          </a:p>
        </p:txBody>
      </p:sp>
      <p:sp>
        <p:nvSpPr>
          <p:cNvPr id="6" name="Google Shape;173;p33">
            <a:extLst>
              <a:ext uri="{FF2B5EF4-FFF2-40B4-BE49-F238E27FC236}">
                <a16:creationId xmlns:a16="http://schemas.microsoft.com/office/drawing/2014/main" id="{22AD1CA7-1700-48EC-BCBC-0B3E601BD87B}"/>
              </a:ext>
            </a:extLst>
          </p:cNvPr>
          <p:cNvSpPr txBox="1">
            <a:spLocks/>
          </p:cNvSpPr>
          <p:nvPr/>
        </p:nvSpPr>
        <p:spPr>
          <a:xfrm>
            <a:off x="454003" y="2634499"/>
            <a:ext cx="8076133" cy="2349143"/>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381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Filled Blank and Empty with Pre &amp; post date values.</a:t>
            </a:r>
          </a:p>
          <a:p>
            <a:pPr marL="4381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Null replaced with the statistical values in required cases.</a:t>
            </a:r>
          </a:p>
          <a:p>
            <a:pPr marL="4381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Standardized age from age group and deleted columns which were not useful .</a:t>
            </a:r>
          </a:p>
          <a:p>
            <a:pPr marL="4381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Changed values in verification status and loan status for accurate classification.</a:t>
            </a:r>
          </a:p>
          <a:p>
            <a:pPr marL="4381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Cleaned numeric fields by removing invalid values and replaced null, blank &amp; empty with statistical values.</a:t>
            </a:r>
          </a:p>
          <a:p>
            <a:pPr marL="4381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Replaced values in State Name column by merging it with region column. Then replaced values with correct names and demerged it.</a:t>
            </a:r>
          </a:p>
        </p:txBody>
      </p:sp>
      <p:sp>
        <p:nvSpPr>
          <p:cNvPr id="8" name="Rectangle 2">
            <a:extLst>
              <a:ext uri="{FF2B5EF4-FFF2-40B4-BE49-F238E27FC236}">
                <a16:creationId xmlns:a16="http://schemas.microsoft.com/office/drawing/2014/main" id="{567D6E6C-EC10-414B-90FF-11BDE82ED62F}"/>
              </a:ext>
            </a:extLst>
          </p:cNvPr>
          <p:cNvSpPr>
            <a:spLocks noChangeArrowheads="1"/>
          </p:cNvSpPr>
          <p:nvPr/>
        </p:nvSpPr>
        <p:spPr bwMode="auto">
          <a:xfrm>
            <a:off x="510896" y="728963"/>
            <a:ext cx="770648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 imported the data into Excel &amp; Power Query.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Cleaned missing values, standardized dates, formatted numeric fields, fixed inconsistent state names, and removed duplicates.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 created calculated fields like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Loan Maturity Duration, Total Interest, Total Revenue, Grade band,</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etc.</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 cleaned dataset was then loaded into Tableau for modelling and visualization.”</a:t>
            </a:r>
          </a:p>
        </p:txBody>
      </p:sp>
    </p:spTree>
    <p:extLst>
      <p:ext uri="{BB962C8B-B14F-4D97-AF65-F5344CB8AC3E}">
        <p14:creationId xmlns:p14="http://schemas.microsoft.com/office/powerpoint/2010/main" val="605323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FD29C-FA17-4E36-A801-BCFD6FC22F63}"/>
              </a:ext>
            </a:extLst>
          </p:cNvPr>
          <p:cNvSpPr>
            <a:spLocks noGrp="1"/>
          </p:cNvSpPr>
          <p:nvPr>
            <p:ph type="title"/>
          </p:nvPr>
        </p:nvSpPr>
        <p:spPr>
          <a:xfrm>
            <a:off x="720000" y="175446"/>
            <a:ext cx="7704000" cy="572700"/>
          </a:xfrm>
        </p:spPr>
        <p:txBody>
          <a:bodyPr/>
          <a:lstStyle/>
          <a:p>
            <a:r>
              <a:rPr lang="en-GB" dirty="0"/>
              <a:t>Key Insights with Recommendations</a:t>
            </a:r>
            <a:endParaRPr lang="en-IN" dirty="0"/>
          </a:p>
        </p:txBody>
      </p:sp>
      <p:sp>
        <p:nvSpPr>
          <p:cNvPr id="3" name="Title 1">
            <a:extLst>
              <a:ext uri="{FF2B5EF4-FFF2-40B4-BE49-F238E27FC236}">
                <a16:creationId xmlns:a16="http://schemas.microsoft.com/office/drawing/2014/main" id="{1AEC7E1C-B9D6-41F0-9275-D048A7329E78}"/>
              </a:ext>
            </a:extLst>
          </p:cNvPr>
          <p:cNvSpPr txBox="1">
            <a:spLocks/>
          </p:cNvSpPr>
          <p:nvPr/>
        </p:nvSpPr>
        <p:spPr>
          <a:xfrm>
            <a:off x="242987" y="873474"/>
            <a:ext cx="4201125" cy="40945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1pPr>
            <a:lvl2pPr marR="0" lvl="1"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2pPr>
            <a:lvl3pPr marR="0" lvl="2"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3pPr>
            <a:lvl4pPr marR="0" lvl="3"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4pPr>
            <a:lvl5pPr marR="0" lvl="4"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5pPr>
            <a:lvl6pPr marR="0" lvl="5"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6pPr>
            <a:lvl7pPr marR="0" lvl="6"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7pPr>
            <a:lvl8pPr marR="0" lvl="7"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8pPr>
            <a:lvl9pPr marR="0" lvl="8"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9pPr>
          </a:lstStyle>
          <a:p>
            <a:r>
              <a:rPr lang="en-GB" sz="1100" b="1" dirty="0">
                <a:latin typeface="Times New Roman" panose="02020603050405020304" pitchFamily="18" charset="0"/>
                <a:cs typeface="Times New Roman" panose="02020603050405020304" pitchFamily="18" charset="0"/>
              </a:rPr>
              <a:t>Home Loans Dominate the Loan Portfolio</a:t>
            </a:r>
          </a:p>
          <a:p>
            <a:endParaRPr lang="en-GB" sz="1100" b="1" dirty="0">
              <a:latin typeface="Times New Roman" panose="02020603050405020304" pitchFamily="18" charset="0"/>
              <a:cs typeface="Times New Roman" panose="02020603050405020304" pitchFamily="18" charset="0"/>
            </a:endParaRPr>
          </a:p>
          <a:p>
            <a:r>
              <a:rPr lang="en-GB" sz="1100" b="0" dirty="0">
                <a:latin typeface="Times New Roman" panose="02020603050405020304" pitchFamily="18" charset="0"/>
                <a:cs typeface="Times New Roman" panose="02020603050405020304" pitchFamily="18" charset="0"/>
              </a:rPr>
              <a:t>Home Loans contribute the highest funded amount (~19.9M), far above other loan types.</a:t>
            </a:r>
          </a:p>
          <a:p>
            <a:endParaRPr lang="en-GB" sz="1100" b="0" dirty="0">
              <a:latin typeface="Times New Roman" panose="02020603050405020304" pitchFamily="18" charset="0"/>
              <a:cs typeface="Times New Roman" panose="02020603050405020304" pitchFamily="18" charset="0"/>
            </a:endParaRPr>
          </a:p>
          <a:p>
            <a:r>
              <a:rPr lang="en-GB" sz="1100" dirty="0">
                <a:latin typeface="Times New Roman" panose="02020603050405020304" pitchFamily="18" charset="0"/>
                <a:cs typeface="Times New Roman" panose="02020603050405020304" pitchFamily="18" charset="0"/>
              </a:rPr>
              <a:t>Problem</a:t>
            </a:r>
          </a:p>
          <a:p>
            <a:r>
              <a:rPr lang="en-GB" sz="1100" b="0" dirty="0">
                <a:latin typeface="Times New Roman" panose="02020603050405020304" pitchFamily="18" charset="0"/>
                <a:cs typeface="Times New Roman" panose="02020603050405020304" pitchFamily="18" charset="0"/>
              </a:rPr>
              <a:t>High dependency on a single loan product increases portfolio concentration risk.</a:t>
            </a:r>
          </a:p>
          <a:p>
            <a:r>
              <a:rPr lang="en-GB" sz="1100" b="0" dirty="0">
                <a:latin typeface="Times New Roman" panose="02020603050405020304" pitchFamily="18" charset="0"/>
                <a:cs typeface="Times New Roman" panose="02020603050405020304" pitchFamily="18" charset="0"/>
              </a:rPr>
              <a:t>Low-performing categories (festival loans, medical loans, etc.) show poor growth.</a:t>
            </a:r>
          </a:p>
          <a:p>
            <a:endParaRPr lang="en-GB" sz="1100" b="0" dirty="0">
              <a:latin typeface="Times New Roman" panose="02020603050405020304" pitchFamily="18" charset="0"/>
              <a:cs typeface="Times New Roman" panose="02020603050405020304" pitchFamily="18" charset="0"/>
            </a:endParaRPr>
          </a:p>
          <a:p>
            <a:r>
              <a:rPr lang="en-GB" sz="1100" dirty="0">
                <a:latin typeface="Times New Roman" panose="02020603050405020304" pitchFamily="18" charset="0"/>
                <a:cs typeface="Times New Roman" panose="02020603050405020304" pitchFamily="18" charset="0"/>
              </a:rPr>
              <a:t>Solution</a:t>
            </a:r>
          </a:p>
          <a:p>
            <a:r>
              <a:rPr lang="en-GB" sz="1100" b="0" dirty="0">
                <a:latin typeface="Times New Roman" panose="02020603050405020304" pitchFamily="18" charset="0"/>
                <a:cs typeface="Times New Roman" panose="02020603050405020304" pitchFamily="18" charset="0"/>
              </a:rPr>
              <a:t>Analyse profitability, NPA risk, and customer segments for each loan category.</a:t>
            </a:r>
          </a:p>
          <a:p>
            <a:r>
              <a:rPr lang="en-GB" sz="1100" b="0" dirty="0">
                <a:latin typeface="Times New Roman" panose="02020603050405020304" pitchFamily="18" charset="0"/>
                <a:cs typeface="Times New Roman" panose="02020603050405020304" pitchFamily="18" charset="0"/>
              </a:rPr>
              <a:t>Identify which loan types have high demand but low penetration.</a:t>
            </a:r>
          </a:p>
          <a:p>
            <a:endParaRPr lang="en-GB" sz="1100" b="0" dirty="0">
              <a:latin typeface="Times New Roman" panose="02020603050405020304" pitchFamily="18" charset="0"/>
              <a:cs typeface="Times New Roman" panose="02020603050405020304" pitchFamily="18" charset="0"/>
            </a:endParaRPr>
          </a:p>
          <a:p>
            <a:r>
              <a:rPr lang="en-GB" sz="1100" dirty="0">
                <a:latin typeface="Times New Roman" panose="02020603050405020304" pitchFamily="18" charset="0"/>
                <a:cs typeface="Times New Roman" panose="02020603050405020304" pitchFamily="18" charset="0"/>
              </a:rPr>
              <a:t>Recommendation</a:t>
            </a:r>
          </a:p>
          <a:p>
            <a:r>
              <a:rPr lang="en-GB" sz="1100" b="0" dirty="0">
                <a:latin typeface="Times New Roman" panose="02020603050405020304" pitchFamily="18" charset="0"/>
                <a:cs typeface="Times New Roman" panose="02020603050405020304" pitchFamily="18" charset="0"/>
              </a:rPr>
              <a:t>Diversify into Business Loans, Agriculture Loans, Trade Finance, and SME Loans with targeted marketing.</a:t>
            </a:r>
          </a:p>
          <a:p>
            <a:r>
              <a:rPr lang="en-GB" sz="1100" b="0" dirty="0">
                <a:latin typeface="Times New Roman" panose="02020603050405020304" pitchFamily="18" charset="0"/>
                <a:cs typeface="Times New Roman" panose="02020603050405020304" pitchFamily="18" charset="0"/>
              </a:rPr>
              <a:t>Adjust targets/incentives to reduce over-focus on Home Loans.</a:t>
            </a:r>
          </a:p>
          <a:p>
            <a:br>
              <a:rPr lang="en-GB" sz="11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19C470C3-F982-4A77-AE2D-23185ACB8EE4}"/>
              </a:ext>
            </a:extLst>
          </p:cNvPr>
          <p:cNvSpPr txBox="1">
            <a:spLocks/>
          </p:cNvSpPr>
          <p:nvPr/>
        </p:nvSpPr>
        <p:spPr>
          <a:xfrm>
            <a:off x="4572000" y="873474"/>
            <a:ext cx="4469690" cy="400505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3600"/>
              <a:buFont typeface="Syne"/>
              <a:buNone/>
              <a:defRPr sz="5000" b="0" i="0" u="none" strike="noStrike" cap="none">
                <a:solidFill>
                  <a:schemeClr val="dk1"/>
                </a:solidFill>
                <a:latin typeface="Syne SemiBold"/>
                <a:ea typeface="Syne SemiBold"/>
                <a:cs typeface="Syne SemiBold"/>
                <a:sym typeface="Syne SemiBold"/>
              </a:defRPr>
            </a:lvl1pPr>
            <a:lvl2pPr marR="0" lvl="1"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2pPr>
            <a:lvl3pPr marR="0" lvl="2"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3pPr>
            <a:lvl4pPr marR="0" lvl="3"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4pPr>
            <a:lvl5pPr marR="0" lvl="4"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5pPr>
            <a:lvl6pPr marR="0" lvl="5"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6pPr>
            <a:lvl7pPr marR="0" lvl="6"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7pPr>
            <a:lvl8pPr marR="0" lvl="7"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8pPr>
            <a:lvl9pPr marR="0" lvl="8"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9pPr>
          </a:lstStyle>
          <a:p>
            <a:pPr algn="l"/>
            <a:r>
              <a:rPr lang="en-GB" sz="1100" b="1" dirty="0">
                <a:latin typeface="Times New Roman" panose="02020603050405020304" pitchFamily="18" charset="0"/>
                <a:cs typeface="Times New Roman" panose="02020603050405020304" pitchFamily="18" charset="0"/>
              </a:rPr>
              <a:t>Loan Distribution Highly Concentrated in a Few States</a:t>
            </a:r>
          </a:p>
          <a:p>
            <a:pPr algn="l"/>
            <a:endParaRPr lang="en-GB" sz="1100" b="1" dirty="0">
              <a:latin typeface="Times New Roman" panose="02020603050405020304" pitchFamily="18" charset="0"/>
              <a:cs typeface="Times New Roman" panose="02020603050405020304" pitchFamily="18" charset="0"/>
            </a:endParaRPr>
          </a:p>
          <a:p>
            <a:pPr algn="l"/>
            <a:r>
              <a:rPr lang="en-GB" sz="1100" dirty="0">
                <a:latin typeface="Times New Roman" panose="02020603050405020304" pitchFamily="18" charset="0"/>
                <a:cs typeface="Times New Roman" panose="02020603050405020304" pitchFamily="18" charset="0"/>
              </a:rPr>
              <a:t>States like Rajasthan, Maharashtra, and Gujarat dominate loan disbursements.</a:t>
            </a:r>
          </a:p>
          <a:p>
            <a:pPr algn="l"/>
            <a:endParaRPr lang="en-GB" sz="1100" dirty="0">
              <a:latin typeface="Times New Roman" panose="02020603050405020304" pitchFamily="18" charset="0"/>
              <a:cs typeface="Times New Roman" panose="02020603050405020304" pitchFamily="18" charset="0"/>
            </a:endParaRPr>
          </a:p>
          <a:p>
            <a:pPr algn="l"/>
            <a:r>
              <a:rPr lang="en-GB" sz="1100" b="1" dirty="0">
                <a:latin typeface="Times New Roman" panose="02020603050405020304" pitchFamily="18" charset="0"/>
                <a:cs typeface="Times New Roman" panose="02020603050405020304" pitchFamily="18" charset="0"/>
              </a:rPr>
              <a:t>Problem</a:t>
            </a:r>
          </a:p>
          <a:p>
            <a:pPr algn="l"/>
            <a:r>
              <a:rPr lang="en-GB" sz="1100" dirty="0">
                <a:latin typeface="Times New Roman" panose="02020603050405020304" pitchFamily="18" charset="0"/>
                <a:cs typeface="Times New Roman" panose="02020603050405020304" pitchFamily="18" charset="0"/>
              </a:rPr>
              <a:t>Geographic concentration increases risk if one region faces economic slowdown.</a:t>
            </a:r>
          </a:p>
          <a:p>
            <a:pPr algn="l"/>
            <a:r>
              <a:rPr lang="en-GB" sz="1100" dirty="0">
                <a:latin typeface="Times New Roman" panose="02020603050405020304" pitchFamily="18" charset="0"/>
                <a:cs typeface="Times New Roman" panose="02020603050405020304" pitchFamily="18" charset="0"/>
              </a:rPr>
              <a:t>Large parts of India remain under-penetrated, missing growth opportunities.</a:t>
            </a:r>
          </a:p>
          <a:p>
            <a:pPr algn="l"/>
            <a:endParaRPr lang="en-GB" sz="1100" dirty="0">
              <a:latin typeface="Times New Roman" panose="02020603050405020304" pitchFamily="18" charset="0"/>
              <a:cs typeface="Times New Roman" panose="02020603050405020304" pitchFamily="18" charset="0"/>
            </a:endParaRPr>
          </a:p>
          <a:p>
            <a:pPr algn="l"/>
            <a:r>
              <a:rPr lang="en-GB" sz="1100" b="1" dirty="0">
                <a:latin typeface="Times New Roman" panose="02020603050405020304" pitchFamily="18" charset="0"/>
                <a:cs typeface="Times New Roman" panose="02020603050405020304" pitchFamily="18" charset="0"/>
              </a:rPr>
              <a:t>Solution</a:t>
            </a:r>
          </a:p>
          <a:p>
            <a:pPr algn="l"/>
            <a:r>
              <a:rPr lang="en-GB" sz="1100" dirty="0">
                <a:latin typeface="Times New Roman" panose="02020603050405020304" pitchFamily="18" charset="0"/>
                <a:cs typeface="Times New Roman" panose="02020603050405020304" pitchFamily="18" charset="0"/>
              </a:rPr>
              <a:t>Map branch density, lead inflow, and approval rates across states.</a:t>
            </a:r>
          </a:p>
          <a:p>
            <a:pPr algn="l"/>
            <a:r>
              <a:rPr lang="en-GB" sz="1100" dirty="0">
                <a:latin typeface="Times New Roman" panose="02020603050405020304" pitchFamily="18" charset="0"/>
                <a:cs typeface="Times New Roman" panose="02020603050405020304" pitchFamily="18" charset="0"/>
              </a:rPr>
              <a:t>Identify underserved states with potential for expansion.</a:t>
            </a:r>
          </a:p>
          <a:p>
            <a:pPr algn="l"/>
            <a:endParaRPr lang="en-GB" sz="1100" dirty="0">
              <a:latin typeface="Times New Roman" panose="02020603050405020304" pitchFamily="18" charset="0"/>
              <a:cs typeface="Times New Roman" panose="02020603050405020304" pitchFamily="18" charset="0"/>
            </a:endParaRPr>
          </a:p>
          <a:p>
            <a:pPr algn="l"/>
            <a:r>
              <a:rPr lang="en-GB" sz="1100" b="1" dirty="0">
                <a:latin typeface="Times New Roman" panose="02020603050405020304" pitchFamily="18" charset="0"/>
                <a:cs typeface="Times New Roman" panose="02020603050405020304" pitchFamily="18" charset="0"/>
              </a:rPr>
              <a:t>Recommendation</a:t>
            </a:r>
          </a:p>
          <a:p>
            <a:pPr algn="l"/>
            <a:r>
              <a:rPr lang="en-GB" sz="1100" dirty="0">
                <a:latin typeface="Times New Roman" panose="02020603050405020304" pitchFamily="18" charset="0"/>
                <a:cs typeface="Times New Roman" panose="02020603050405020304" pitchFamily="18" charset="0"/>
              </a:rPr>
              <a:t>Open micro-branches or partnerships in low-loan states.</a:t>
            </a:r>
          </a:p>
          <a:p>
            <a:pPr algn="l"/>
            <a:r>
              <a:rPr lang="en-GB" sz="1100" dirty="0">
                <a:latin typeface="Times New Roman" panose="02020603050405020304" pitchFamily="18" charset="0"/>
                <a:cs typeface="Times New Roman" panose="02020603050405020304" pitchFamily="18" charset="0"/>
              </a:rPr>
              <a:t>Launch localized campaigns (digital + on-ground) to grow presence countrywide.</a:t>
            </a:r>
          </a:p>
          <a:p>
            <a:pPr algn="l"/>
            <a:br>
              <a:rPr lang="en-GB" sz="11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5668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675DE35-E5F0-4E2C-A6EB-03FDAC2BA66F}"/>
              </a:ext>
            </a:extLst>
          </p:cNvPr>
          <p:cNvSpPr>
            <a:spLocks noGrp="1"/>
          </p:cNvSpPr>
          <p:nvPr>
            <p:ph type="title"/>
          </p:nvPr>
        </p:nvSpPr>
        <p:spPr>
          <a:xfrm>
            <a:off x="202053" y="367585"/>
            <a:ext cx="2643457" cy="4408329"/>
          </a:xfrm>
        </p:spPr>
        <p:txBody>
          <a:bodyPr/>
          <a:lstStyle/>
          <a:p>
            <a:r>
              <a:rPr lang="en-GB" sz="1100" b="1" dirty="0">
                <a:latin typeface="Times New Roman" panose="02020603050405020304" pitchFamily="18" charset="0"/>
                <a:cs typeface="Times New Roman" panose="02020603050405020304" pitchFamily="18" charset="0"/>
              </a:rPr>
              <a:t>Religious Segmentation Is Skewed (Hindu Customers = 75%+)</a:t>
            </a:r>
            <a:br>
              <a:rPr lang="en-GB" sz="1100" b="1" dirty="0">
                <a:latin typeface="Times New Roman" panose="02020603050405020304" pitchFamily="18" charset="0"/>
                <a:cs typeface="Times New Roman" panose="02020603050405020304" pitchFamily="18" charset="0"/>
              </a:rPr>
            </a:b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The borrower base is not evenly distributed across religious segments.</a:t>
            </a:r>
            <a:br>
              <a:rPr lang="en-GB" sz="1100" b="0" dirty="0">
                <a:latin typeface="Times New Roman" panose="02020603050405020304" pitchFamily="18" charset="0"/>
                <a:cs typeface="Times New Roman" panose="02020603050405020304" pitchFamily="18" charset="0"/>
              </a:rPr>
            </a:br>
            <a:br>
              <a:rPr lang="en-GB" sz="1100" b="0"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Problem</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Bank is missing opportunities to capture a broader customer base.</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Indicates lack of inclusive marketing and outreach.</a:t>
            </a:r>
            <a:br>
              <a:rPr lang="en-GB" sz="1100" b="0" dirty="0">
                <a:latin typeface="Times New Roman" panose="02020603050405020304" pitchFamily="18" charset="0"/>
                <a:cs typeface="Times New Roman" panose="02020603050405020304" pitchFamily="18" charset="0"/>
              </a:rPr>
            </a:br>
            <a:br>
              <a:rPr lang="en-GB" sz="1100" b="0"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Solution</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Analyse customer acquisition funnels by religion, region, income group.</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Identify barriers preventing minority groups from applying.</a:t>
            </a:r>
            <a:br>
              <a:rPr lang="en-GB" sz="1100" b="0" dirty="0">
                <a:latin typeface="Times New Roman" panose="02020603050405020304" pitchFamily="18" charset="0"/>
                <a:cs typeface="Times New Roman" panose="02020603050405020304" pitchFamily="18" charset="0"/>
              </a:rPr>
            </a:br>
            <a:br>
              <a:rPr lang="en-GB" sz="1100" b="0"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Recommendation</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Create inclusive loan products and campaigns targeted at underserved segments.</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Partner with community groups/NGOs to improve trust and reach.</a:t>
            </a:r>
            <a:br>
              <a:rPr lang="en-GB" sz="900" b="0" dirty="0"/>
            </a:br>
            <a:br>
              <a:rPr lang="en-GB" sz="1100" dirty="0">
                <a:latin typeface="Times New Roman" panose="02020603050405020304" pitchFamily="18" charset="0"/>
                <a:cs typeface="Times New Roman" panose="02020603050405020304" pitchFamily="18" charset="0"/>
              </a:rPr>
            </a:br>
            <a:endParaRPr lang="en-IN" sz="11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EDE54214-E26F-419E-BF10-0D3E800EE4F4}"/>
              </a:ext>
            </a:extLst>
          </p:cNvPr>
          <p:cNvSpPr txBox="1">
            <a:spLocks/>
          </p:cNvSpPr>
          <p:nvPr/>
        </p:nvSpPr>
        <p:spPr>
          <a:xfrm>
            <a:off x="3075710" y="367584"/>
            <a:ext cx="2772410" cy="44083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1pPr>
            <a:lvl2pPr marR="0" lvl="1"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2pPr>
            <a:lvl3pPr marR="0" lvl="2"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3pPr>
            <a:lvl4pPr marR="0" lvl="3"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4pPr>
            <a:lvl5pPr marR="0" lvl="4"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5pPr>
            <a:lvl6pPr marR="0" lvl="5"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6pPr>
            <a:lvl7pPr marR="0" lvl="6"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7pPr>
            <a:lvl8pPr marR="0" lvl="7"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8pPr>
            <a:lvl9pPr marR="0" lvl="8"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9pPr>
          </a:lstStyle>
          <a:p>
            <a:r>
              <a:rPr lang="en-GB" sz="1100" b="1" dirty="0">
                <a:latin typeface="Times New Roman" panose="02020603050405020304" pitchFamily="18" charset="0"/>
                <a:cs typeface="Times New Roman" panose="02020603050405020304" pitchFamily="18" charset="0"/>
              </a:rPr>
              <a:t>Mid-Grade Borrowers (Grade B &amp; C) Form Majority of Portfolio</a:t>
            </a:r>
          </a:p>
          <a:p>
            <a:endParaRPr lang="en-GB" sz="1100" b="0" dirty="0">
              <a:latin typeface="Times New Roman" panose="02020603050405020304" pitchFamily="18" charset="0"/>
              <a:cs typeface="Times New Roman" panose="02020603050405020304" pitchFamily="18" charset="0"/>
            </a:endParaRPr>
          </a:p>
          <a:p>
            <a:r>
              <a:rPr lang="en-GB" sz="1100" b="0" dirty="0">
                <a:latin typeface="Times New Roman" panose="02020603050405020304" pitchFamily="18" charset="0"/>
                <a:cs typeface="Times New Roman" panose="02020603050405020304" pitchFamily="18" charset="0"/>
              </a:rPr>
              <a:t>Grades B &amp; C occupy most of the loan volume.</a:t>
            </a:r>
          </a:p>
          <a:p>
            <a:endParaRPr lang="en-GB" sz="1100" b="0" dirty="0">
              <a:latin typeface="Times New Roman" panose="02020603050405020304" pitchFamily="18" charset="0"/>
              <a:cs typeface="Times New Roman" panose="02020603050405020304" pitchFamily="18" charset="0"/>
            </a:endParaRPr>
          </a:p>
          <a:p>
            <a:r>
              <a:rPr lang="en-GB" sz="1100" dirty="0">
                <a:latin typeface="Times New Roman" panose="02020603050405020304" pitchFamily="18" charset="0"/>
                <a:cs typeface="Times New Roman" panose="02020603050405020304" pitchFamily="18" charset="0"/>
              </a:rPr>
              <a:t>Problem</a:t>
            </a:r>
          </a:p>
          <a:p>
            <a:r>
              <a:rPr lang="en-GB" sz="1100" b="0" dirty="0">
                <a:latin typeface="Times New Roman" panose="02020603050405020304" pitchFamily="18" charset="0"/>
                <a:cs typeface="Times New Roman" panose="02020603050405020304" pitchFamily="18" charset="0"/>
              </a:rPr>
              <a:t>Higher credit risk and potential NPAs due to mid-grade concentration.</a:t>
            </a:r>
          </a:p>
          <a:p>
            <a:r>
              <a:rPr lang="en-GB" sz="1100" b="0" dirty="0">
                <a:latin typeface="Times New Roman" panose="02020603050405020304" pitchFamily="18" charset="0"/>
                <a:cs typeface="Times New Roman" panose="02020603050405020304" pitchFamily="18" charset="0"/>
              </a:rPr>
              <a:t>Lack of strong verification methods increases the chances of default.</a:t>
            </a:r>
          </a:p>
          <a:p>
            <a:endParaRPr lang="en-GB" sz="1100" b="0" dirty="0">
              <a:latin typeface="Times New Roman" panose="02020603050405020304" pitchFamily="18" charset="0"/>
              <a:cs typeface="Times New Roman" panose="02020603050405020304" pitchFamily="18" charset="0"/>
            </a:endParaRPr>
          </a:p>
          <a:p>
            <a:r>
              <a:rPr lang="en-GB" sz="1100" dirty="0">
                <a:latin typeface="Times New Roman" panose="02020603050405020304" pitchFamily="18" charset="0"/>
                <a:cs typeface="Times New Roman" panose="02020603050405020304" pitchFamily="18" charset="0"/>
              </a:rPr>
              <a:t>Solution</a:t>
            </a:r>
          </a:p>
          <a:p>
            <a:r>
              <a:rPr lang="en-GB" sz="1100" b="0" dirty="0">
                <a:latin typeface="Times New Roman" panose="02020603050405020304" pitchFamily="18" charset="0"/>
                <a:cs typeface="Times New Roman" panose="02020603050405020304" pitchFamily="18" charset="0"/>
              </a:rPr>
              <a:t>Strengthen credit scoring and KYC verification.</a:t>
            </a:r>
          </a:p>
          <a:p>
            <a:r>
              <a:rPr lang="en-GB" sz="1100" b="0" dirty="0">
                <a:latin typeface="Times New Roman" panose="02020603050405020304" pitchFamily="18" charset="0"/>
                <a:cs typeface="Times New Roman" panose="02020603050405020304" pitchFamily="18" charset="0"/>
              </a:rPr>
              <a:t>Introduce risk-based pricing (higher interest rate for lower grades).</a:t>
            </a:r>
          </a:p>
          <a:p>
            <a:endParaRPr lang="en-GB" sz="1100" b="0" dirty="0">
              <a:latin typeface="Times New Roman" panose="02020603050405020304" pitchFamily="18" charset="0"/>
              <a:cs typeface="Times New Roman" panose="02020603050405020304" pitchFamily="18" charset="0"/>
            </a:endParaRPr>
          </a:p>
          <a:p>
            <a:r>
              <a:rPr lang="en-GB" sz="1100" dirty="0">
                <a:latin typeface="Times New Roman" panose="02020603050405020304" pitchFamily="18" charset="0"/>
                <a:cs typeface="Times New Roman" panose="02020603050405020304" pitchFamily="18" charset="0"/>
              </a:rPr>
              <a:t>Recommendation</a:t>
            </a:r>
          </a:p>
          <a:p>
            <a:r>
              <a:rPr lang="en-GB" sz="1100" b="0" dirty="0">
                <a:latin typeface="Times New Roman" panose="02020603050405020304" pitchFamily="18" charset="0"/>
                <a:cs typeface="Times New Roman" panose="02020603050405020304" pitchFamily="18" charset="0"/>
              </a:rPr>
              <a:t>Shift portfolio quality by promoting Grade A loans through special offers.</a:t>
            </a:r>
          </a:p>
          <a:p>
            <a:r>
              <a:rPr lang="en-GB" sz="1100" b="0" dirty="0">
                <a:latin typeface="Times New Roman" panose="02020603050405020304" pitchFamily="18" charset="0"/>
                <a:cs typeface="Times New Roman" panose="02020603050405020304" pitchFamily="18" charset="0"/>
              </a:rPr>
              <a:t>Implement stricter pre-approval checks and verification for mid-grade borrowers.</a:t>
            </a:r>
          </a:p>
        </p:txBody>
      </p:sp>
      <p:sp>
        <p:nvSpPr>
          <p:cNvPr id="5" name="Title 1">
            <a:extLst>
              <a:ext uri="{FF2B5EF4-FFF2-40B4-BE49-F238E27FC236}">
                <a16:creationId xmlns:a16="http://schemas.microsoft.com/office/drawing/2014/main" id="{F377D742-5369-4B73-8B3F-B8D4E7C271A4}"/>
              </a:ext>
            </a:extLst>
          </p:cNvPr>
          <p:cNvSpPr txBox="1">
            <a:spLocks/>
          </p:cNvSpPr>
          <p:nvPr/>
        </p:nvSpPr>
        <p:spPr>
          <a:xfrm>
            <a:off x="6078320" y="367584"/>
            <a:ext cx="2978727" cy="398888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1pPr>
            <a:lvl2pPr marR="0" lvl="1"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2pPr>
            <a:lvl3pPr marR="0" lvl="2"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3pPr>
            <a:lvl4pPr marR="0" lvl="3"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4pPr>
            <a:lvl5pPr marR="0" lvl="4"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5pPr>
            <a:lvl6pPr marR="0" lvl="5"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6pPr>
            <a:lvl7pPr marR="0" lvl="6"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7pPr>
            <a:lvl8pPr marR="0" lvl="7"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8pPr>
            <a:lvl9pPr marR="0" lvl="8"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9pPr>
          </a:lstStyle>
          <a:p>
            <a:r>
              <a:rPr lang="en-GB" sz="1100" b="1" dirty="0">
                <a:latin typeface="Times New Roman" panose="02020603050405020304" pitchFamily="18" charset="0"/>
                <a:cs typeface="Times New Roman" panose="02020603050405020304" pitchFamily="18" charset="0"/>
              </a:rPr>
              <a:t>Loan Maturity is Clustered in a Few Months</a:t>
            </a:r>
          </a:p>
          <a:p>
            <a:endParaRPr lang="en-GB" sz="1100" b="1" dirty="0">
              <a:latin typeface="Times New Roman" panose="02020603050405020304" pitchFamily="18" charset="0"/>
              <a:cs typeface="Times New Roman" panose="02020603050405020304" pitchFamily="18" charset="0"/>
            </a:endParaRPr>
          </a:p>
          <a:p>
            <a:r>
              <a:rPr lang="en-GB" sz="1100" b="0" dirty="0">
                <a:latin typeface="Times New Roman" panose="02020603050405020304" pitchFamily="18" charset="0"/>
                <a:cs typeface="Times New Roman" panose="02020603050405020304" pitchFamily="18" charset="0"/>
              </a:rPr>
              <a:t>Large maturity spikes in January, March, and May.</a:t>
            </a:r>
          </a:p>
          <a:p>
            <a:endParaRPr lang="en-GB" sz="1100" b="0" dirty="0">
              <a:latin typeface="Times New Roman" panose="02020603050405020304" pitchFamily="18" charset="0"/>
              <a:cs typeface="Times New Roman" panose="02020603050405020304" pitchFamily="18" charset="0"/>
            </a:endParaRPr>
          </a:p>
          <a:p>
            <a:r>
              <a:rPr lang="en-GB" sz="1100" b="0" dirty="0">
                <a:latin typeface="Times New Roman" panose="02020603050405020304" pitchFamily="18" charset="0"/>
                <a:cs typeface="Times New Roman" panose="02020603050405020304" pitchFamily="18" charset="0"/>
              </a:rPr>
              <a:t>Problem</a:t>
            </a:r>
          </a:p>
          <a:p>
            <a:r>
              <a:rPr lang="en-GB" sz="1100" b="0" dirty="0">
                <a:latin typeface="Times New Roman" panose="02020603050405020304" pitchFamily="18" charset="0"/>
                <a:cs typeface="Times New Roman" panose="02020603050405020304" pitchFamily="18" charset="0"/>
              </a:rPr>
              <a:t>Creates operational overload for recovery teams.</a:t>
            </a:r>
          </a:p>
          <a:p>
            <a:r>
              <a:rPr lang="en-GB" sz="1100" b="0" dirty="0">
                <a:latin typeface="Times New Roman" panose="02020603050405020304" pitchFamily="18" charset="0"/>
                <a:cs typeface="Times New Roman" panose="02020603050405020304" pitchFamily="18" charset="0"/>
              </a:rPr>
              <a:t>Causes uneven cash flow across months.</a:t>
            </a:r>
          </a:p>
          <a:p>
            <a:endParaRPr lang="en-GB" sz="1100" b="0" dirty="0">
              <a:latin typeface="Times New Roman" panose="02020603050405020304" pitchFamily="18" charset="0"/>
              <a:cs typeface="Times New Roman" panose="02020603050405020304" pitchFamily="18" charset="0"/>
            </a:endParaRPr>
          </a:p>
          <a:p>
            <a:r>
              <a:rPr lang="en-GB" sz="1100" b="0" dirty="0">
                <a:latin typeface="Times New Roman" panose="02020603050405020304" pitchFamily="18" charset="0"/>
                <a:cs typeface="Times New Roman" panose="02020603050405020304" pitchFamily="18" charset="0"/>
              </a:rPr>
              <a:t>Solution</a:t>
            </a:r>
          </a:p>
          <a:p>
            <a:r>
              <a:rPr lang="en-GB" sz="1100" b="0" dirty="0">
                <a:latin typeface="Times New Roman" panose="02020603050405020304" pitchFamily="18" charset="0"/>
                <a:cs typeface="Times New Roman" panose="02020603050405020304" pitchFamily="18" charset="0"/>
              </a:rPr>
              <a:t>Forecast maturity distribution using historical patterns.</a:t>
            </a:r>
          </a:p>
          <a:p>
            <a:r>
              <a:rPr lang="en-GB" sz="1100" b="0" dirty="0">
                <a:latin typeface="Times New Roman" panose="02020603050405020304" pitchFamily="18" charset="0"/>
                <a:cs typeface="Times New Roman" panose="02020603050405020304" pitchFamily="18" charset="0"/>
              </a:rPr>
              <a:t>Plan manpower and recovery strategy for peak months.</a:t>
            </a:r>
          </a:p>
          <a:p>
            <a:endParaRPr lang="en-GB" sz="1100" b="0" dirty="0">
              <a:latin typeface="Times New Roman" panose="02020603050405020304" pitchFamily="18" charset="0"/>
              <a:cs typeface="Times New Roman" panose="02020603050405020304" pitchFamily="18" charset="0"/>
            </a:endParaRPr>
          </a:p>
          <a:p>
            <a:r>
              <a:rPr lang="en-GB" sz="1100" b="0" dirty="0">
                <a:latin typeface="Times New Roman" panose="02020603050405020304" pitchFamily="18" charset="0"/>
                <a:cs typeface="Times New Roman" panose="02020603050405020304" pitchFamily="18" charset="0"/>
              </a:rPr>
              <a:t>Recommendation</a:t>
            </a:r>
          </a:p>
          <a:p>
            <a:r>
              <a:rPr lang="en-GB" sz="1100" b="0" dirty="0">
                <a:latin typeface="Times New Roman" panose="02020603050405020304" pitchFamily="18" charset="0"/>
                <a:cs typeface="Times New Roman" panose="02020603050405020304" pitchFamily="18" charset="0"/>
              </a:rPr>
              <a:t>Evenly distribute new loan disbursements across quarters.</a:t>
            </a:r>
          </a:p>
          <a:p>
            <a:r>
              <a:rPr lang="en-GB" sz="1100" b="0" dirty="0">
                <a:latin typeface="Times New Roman" panose="02020603050405020304" pitchFamily="18" charset="0"/>
                <a:cs typeface="Times New Roman" panose="02020603050405020304" pitchFamily="18" charset="0"/>
              </a:rPr>
              <a:t>Increase temporary recovery teams during peak maturity months.</a:t>
            </a:r>
          </a:p>
        </p:txBody>
      </p:sp>
    </p:spTree>
    <p:extLst>
      <p:ext uri="{BB962C8B-B14F-4D97-AF65-F5344CB8AC3E}">
        <p14:creationId xmlns:p14="http://schemas.microsoft.com/office/powerpoint/2010/main" val="666981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7CB782-CF1D-4E9F-9A97-8AA6173AE391}"/>
              </a:ext>
            </a:extLst>
          </p:cNvPr>
          <p:cNvPicPr>
            <a:picLocks noChangeAspect="1"/>
          </p:cNvPicPr>
          <p:nvPr/>
        </p:nvPicPr>
        <p:blipFill rotWithShape="1">
          <a:blip r:embed="rId2"/>
          <a:srcRect l="10769" t="12308" r="5665" b="5267"/>
          <a:stretch/>
        </p:blipFill>
        <p:spPr>
          <a:xfrm>
            <a:off x="204621" y="148677"/>
            <a:ext cx="8802481" cy="4883719"/>
          </a:xfrm>
          <a:prstGeom prst="rect">
            <a:avLst/>
          </a:prstGeom>
        </p:spPr>
      </p:pic>
    </p:spTree>
    <p:extLst>
      <p:ext uri="{BB962C8B-B14F-4D97-AF65-F5344CB8AC3E}">
        <p14:creationId xmlns:p14="http://schemas.microsoft.com/office/powerpoint/2010/main" val="2364243061"/>
      </p:ext>
    </p:extLst>
  </p:cSld>
  <p:clrMapOvr>
    <a:masterClrMapping/>
  </p:clrMapOvr>
</p:sld>
</file>

<file path=ppt/theme/theme1.xml><?xml version="1.0" encoding="utf-8"?>
<a:theme xmlns:a="http://schemas.openxmlformats.org/drawingml/2006/main"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2113</TotalTime>
  <Words>701</Words>
  <Application>Microsoft Office PowerPoint</Application>
  <PresentationFormat>On-screen Show (16:9)</PresentationFormat>
  <Paragraphs>77</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Albert Sans</vt:lpstr>
      <vt:lpstr>Arial</vt:lpstr>
      <vt:lpstr>Times New Roman</vt:lpstr>
      <vt:lpstr>Syne</vt:lpstr>
      <vt:lpstr>Syne SemiBold</vt:lpstr>
      <vt:lpstr>Tech Startup by Slidesgo</vt:lpstr>
      <vt:lpstr>Loan Analytics Data  Our dashboard highlights five major risks:      Product concentration    Geographic imbalance     Borrower quality skew    Customer segment underrepresentation    Seasonal maturity peaks.   Through targeted product diversification, geographic expansion, credit policy strengthening, loan calendar optimization, and data-driven segmentation, the bank can significantly enhance profitability, reduce risk, and build a more inclusive, balanced, and scalable loan portfolio.”</vt:lpstr>
      <vt:lpstr>PowerPoint Presentation</vt:lpstr>
      <vt:lpstr>Key Insights with Recommendations</vt:lpstr>
      <vt:lpstr>Religious Segmentation Is Skewed (Hindu Customers = 75%+)  The borrower base is not evenly distributed across religious segments.  Problem Bank is missing opportunities to capture a broader customer base. Indicates lack of inclusive marketing and outreach.  Solution Analyse customer acquisition funnels by religion, region, income group. Identify barriers preventing minority groups from applying.  Recommendation Create inclusive loan products and campaigns targeted at underserved segments. Partner with community groups/NGOs to improve trust and reach.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&amp; Deposit Analysis Dashboard</dc:title>
  <dc:creator>ABHILASH</dc:creator>
  <cp:lastModifiedBy>suraj vaidhya</cp:lastModifiedBy>
  <cp:revision>39</cp:revision>
  <dcterms:modified xsi:type="dcterms:W3CDTF">2025-12-01T08:07:05Z</dcterms:modified>
</cp:coreProperties>
</file>